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ifonn" charset="1" panose="00000000000000000000"/>
      <p:regular r:id="rId15"/>
    </p:embeddedFont>
    <p:embeddedFont>
      <p:font typeface="Bebas Neue Bold" charset="1" panose="020B0606020202050201"/>
      <p:regular r:id="rId16"/>
    </p:embeddedFont>
    <p:embeddedFont>
      <p:font typeface="Montserra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468950">
            <a:off x="3320382" y="234115"/>
            <a:ext cx="7172064" cy="2026108"/>
          </a:xfrm>
          <a:custGeom>
            <a:avLst/>
            <a:gdLst/>
            <a:ahLst/>
            <a:cxnLst/>
            <a:rect r="r" b="b" t="t" l="l"/>
            <a:pathLst>
              <a:path h="2026108" w="7172064">
                <a:moveTo>
                  <a:pt x="7172064" y="0"/>
                </a:moveTo>
                <a:lnTo>
                  <a:pt x="0" y="0"/>
                </a:lnTo>
                <a:lnTo>
                  <a:pt x="0" y="2026108"/>
                </a:lnTo>
                <a:lnTo>
                  <a:pt x="7172064" y="2026108"/>
                </a:lnTo>
                <a:lnTo>
                  <a:pt x="717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2069">
            <a:off x="2624194" y="1635284"/>
            <a:ext cx="6817034" cy="68170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3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82069">
            <a:off x="3171294" y="1629937"/>
            <a:ext cx="6609519" cy="660951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886328">
            <a:off x="2257891" y="5650145"/>
            <a:ext cx="896087" cy="787701"/>
            <a:chOff x="0" y="0"/>
            <a:chExt cx="236006" cy="2074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006" cy="207460"/>
            </a:xfrm>
            <a:custGeom>
              <a:avLst/>
              <a:gdLst/>
              <a:ahLst/>
              <a:cxnLst/>
              <a:rect r="r" b="b" t="t" l="l"/>
              <a:pathLst>
                <a:path h="207460" w="236006">
                  <a:moveTo>
                    <a:pt x="0" y="0"/>
                  </a:moveTo>
                  <a:lnTo>
                    <a:pt x="236006" y="0"/>
                  </a:lnTo>
                  <a:lnTo>
                    <a:pt x="236006" y="207460"/>
                  </a:lnTo>
                  <a:lnTo>
                    <a:pt x="0" y="207460"/>
                  </a:lnTo>
                  <a:close/>
                </a:path>
              </a:pathLst>
            </a:custGeom>
            <a:solidFill>
              <a:srgbClr val="F2981B"/>
            </a:solidFill>
            <a:ln w="1714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6006" cy="25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38237">
            <a:off x="488177" y="5654334"/>
            <a:ext cx="2101522" cy="1250906"/>
            <a:chOff x="0" y="0"/>
            <a:chExt cx="553487" cy="329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3487" cy="329457"/>
            </a:xfrm>
            <a:custGeom>
              <a:avLst/>
              <a:gdLst/>
              <a:ahLst/>
              <a:cxnLst/>
              <a:rect r="r" b="b" t="t" l="l"/>
              <a:pathLst>
                <a:path h="329457" w="553487">
                  <a:moveTo>
                    <a:pt x="164728" y="0"/>
                  </a:moveTo>
                  <a:lnTo>
                    <a:pt x="388759" y="0"/>
                  </a:lnTo>
                  <a:cubicBezTo>
                    <a:pt x="479736" y="0"/>
                    <a:pt x="553487" y="73751"/>
                    <a:pt x="553487" y="164728"/>
                  </a:cubicBezTo>
                  <a:lnTo>
                    <a:pt x="553487" y="164728"/>
                  </a:lnTo>
                  <a:cubicBezTo>
                    <a:pt x="553487" y="208417"/>
                    <a:pt x="536132" y="250316"/>
                    <a:pt x="505239" y="281209"/>
                  </a:cubicBezTo>
                  <a:cubicBezTo>
                    <a:pt x="474347" y="312101"/>
                    <a:pt x="432448" y="329457"/>
                    <a:pt x="388759" y="329457"/>
                  </a:cubicBezTo>
                  <a:lnTo>
                    <a:pt x="164728" y="329457"/>
                  </a:lnTo>
                  <a:cubicBezTo>
                    <a:pt x="121040" y="329457"/>
                    <a:pt x="79140" y="312101"/>
                    <a:pt x="48248" y="281209"/>
                  </a:cubicBezTo>
                  <a:cubicBezTo>
                    <a:pt x="17355" y="250316"/>
                    <a:pt x="0" y="208417"/>
                    <a:pt x="0" y="164728"/>
                  </a:cubicBezTo>
                  <a:lnTo>
                    <a:pt x="0" y="164728"/>
                  </a:lnTo>
                  <a:cubicBezTo>
                    <a:pt x="0" y="121040"/>
                    <a:pt x="17355" y="79140"/>
                    <a:pt x="48248" y="48248"/>
                  </a:cubicBezTo>
                  <a:cubicBezTo>
                    <a:pt x="79140" y="17355"/>
                    <a:pt x="121040" y="0"/>
                    <a:pt x="164728" y="0"/>
                  </a:cubicBezTo>
                  <a:close/>
                </a:path>
              </a:pathLst>
            </a:custGeom>
            <a:solidFill>
              <a:srgbClr val="7284AE"/>
            </a:solidFill>
            <a:ln w="17145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53487" cy="377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81565" y="3853176"/>
            <a:ext cx="12470643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60"/>
              </a:lnSpc>
            </a:pPr>
            <a:r>
              <a:rPr lang="en-US" sz="78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PLANIFICACIÓN DE LA CAPACITACIÓN </a:t>
            </a:r>
          </a:p>
        </p:txBody>
      </p:sp>
      <p:sp>
        <p:nvSpPr>
          <p:cNvPr name="Freeform 16" id="16"/>
          <p:cNvSpPr/>
          <p:nvPr/>
        </p:nvSpPr>
        <p:spPr>
          <a:xfrm flipH="false" flipV="true" rot="-10596635">
            <a:off x="2188179" y="7859559"/>
            <a:ext cx="7172064" cy="2026108"/>
          </a:xfrm>
          <a:custGeom>
            <a:avLst/>
            <a:gdLst/>
            <a:ahLst/>
            <a:cxnLst/>
            <a:rect r="r" b="b" t="t" l="l"/>
            <a:pathLst>
              <a:path h="2026108" w="7172064">
                <a:moveTo>
                  <a:pt x="0" y="2026108"/>
                </a:moveTo>
                <a:lnTo>
                  <a:pt x="7172064" y="2026108"/>
                </a:lnTo>
                <a:lnTo>
                  <a:pt x="7172064" y="0"/>
                </a:lnTo>
                <a:lnTo>
                  <a:pt x="0" y="0"/>
                </a:lnTo>
                <a:lnTo>
                  <a:pt x="0" y="202610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09432" y="8253488"/>
            <a:ext cx="594986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pc="479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Grupo #6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674" y="3516580"/>
            <a:ext cx="8618101" cy="818641"/>
            <a:chOff x="0" y="0"/>
            <a:chExt cx="11490801" cy="1091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1</a:t>
                </a: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354714" y="136186"/>
              <a:ext cx="10136087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479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LLuvia de ideas previa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3674" y="4712154"/>
            <a:ext cx="812688" cy="818641"/>
            <a:chOff x="0" y="0"/>
            <a:chExt cx="1083583" cy="10915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2</a:t>
                </a: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1809710" y="4811912"/>
            <a:ext cx="760206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pc="479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Lluvia de ideas del tema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93674" y="5907728"/>
            <a:ext cx="8618101" cy="818641"/>
            <a:chOff x="0" y="0"/>
            <a:chExt cx="11490801" cy="10915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54714" y="136186"/>
              <a:ext cx="10136087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479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Capacitación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3674" y="6912548"/>
            <a:ext cx="8283382" cy="818641"/>
            <a:chOff x="0" y="0"/>
            <a:chExt cx="11044510" cy="10915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4</a:t>
                </a: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354714" y="136186"/>
              <a:ext cx="9689796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479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Organización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11775" y="3518545"/>
            <a:ext cx="8587303" cy="818641"/>
            <a:chOff x="0" y="0"/>
            <a:chExt cx="11449737" cy="10915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5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313650" y="229687"/>
              <a:ext cx="10136087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479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Lugar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11775" y="4602871"/>
            <a:ext cx="8587303" cy="818641"/>
            <a:chOff x="0" y="0"/>
            <a:chExt cx="11449737" cy="10915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6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313650" y="136186"/>
              <a:ext cx="10136087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479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Planificación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6756627" y="2349680"/>
            <a:ext cx="5625906" cy="0"/>
          </a:xfrm>
          <a:prstGeom prst="line">
            <a:avLst/>
          </a:prstGeom>
          <a:ln cap="flat" w="57150">
            <a:solidFill>
              <a:srgbClr val="4E639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5738246" y="681683"/>
            <a:ext cx="2036762" cy="203676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4E639E"/>
              </a:solidFill>
              <a:prstDash val="dash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851304" y="700733"/>
            <a:ext cx="1952280" cy="195228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45" id="45"/>
          <p:cNvSpPr/>
          <p:nvPr/>
        </p:nvSpPr>
        <p:spPr>
          <a:xfrm flipV="true">
            <a:off x="6869685" y="791105"/>
            <a:ext cx="0" cy="270525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6869685" y="2330630"/>
            <a:ext cx="0" cy="270525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5941676" y="1719114"/>
            <a:ext cx="270525" cy="0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6202155" y="1105361"/>
            <a:ext cx="227634" cy="146172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V="true">
            <a:off x="6224557" y="2148526"/>
            <a:ext cx="205895" cy="175474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3365652" y="1203028"/>
            <a:ext cx="11556696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CONTENIDO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7807315" y="7731189"/>
            <a:ext cx="2673370" cy="2211606"/>
          </a:xfrm>
          <a:custGeom>
            <a:avLst/>
            <a:gdLst/>
            <a:ahLst/>
            <a:cxnLst/>
            <a:rect r="r" b="b" t="t" l="l"/>
            <a:pathLst>
              <a:path h="2211606" w="2673370">
                <a:moveTo>
                  <a:pt x="0" y="0"/>
                </a:moveTo>
                <a:lnTo>
                  <a:pt x="2673370" y="0"/>
                </a:lnTo>
                <a:lnTo>
                  <a:pt x="2673370" y="2211606"/>
                </a:lnTo>
                <a:lnTo>
                  <a:pt x="0" y="2211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8506" y="653158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56907" y="737207"/>
              <a:ext cx="2190714" cy="1330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1F1674"/>
                  </a:solidFill>
                  <a:latin typeface="Sifonn"/>
                  <a:ea typeface="Sifonn"/>
                  <a:cs typeface="Sifonn"/>
                  <a:sym typeface="Sifonn"/>
                </a:rPr>
                <a:t>1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42831" y="5524325"/>
            <a:ext cx="7315200" cy="1636776"/>
          </a:xfrm>
          <a:custGeom>
            <a:avLst/>
            <a:gdLst/>
            <a:ahLst/>
            <a:cxnLst/>
            <a:rect r="r" b="b" t="t" l="l"/>
            <a:pathLst>
              <a:path h="1636776" w="7315200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845269" y="1384837"/>
            <a:ext cx="1178340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LLUVIA DE IDEAS PREVIA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8506" y="3399379"/>
            <a:ext cx="1449905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Se tuvieron varias ideas respecto al tema a seleccionar, se tomo mucho en cuenta la IA para la selección del tema y paradigmas de programación que puedan ser interesantes para dar la capacitación, se descataron: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42831" y="5980763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Como Aprender con IA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992418" y="5524325"/>
            <a:ext cx="7315200" cy="1636776"/>
          </a:xfrm>
          <a:custGeom>
            <a:avLst/>
            <a:gdLst/>
            <a:ahLst/>
            <a:cxnLst/>
            <a:rect r="r" b="b" t="t" l="l"/>
            <a:pathLst>
              <a:path h="1636776" w="7315200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92418" y="5980763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72532" y="7315650"/>
            <a:ext cx="7315200" cy="1636776"/>
          </a:xfrm>
          <a:custGeom>
            <a:avLst/>
            <a:gdLst/>
            <a:ahLst/>
            <a:cxnLst/>
            <a:rect r="r" b="b" t="t" l="l"/>
            <a:pathLst>
              <a:path h="1636776" w="7315200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72532" y="7772088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Pensamiento lógico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058031" y="7319113"/>
            <a:ext cx="7315200" cy="1636776"/>
          </a:xfrm>
          <a:custGeom>
            <a:avLst/>
            <a:gdLst/>
            <a:ahLst/>
            <a:cxnLst/>
            <a:rect r="r" b="b" t="t" l="l"/>
            <a:pathLst>
              <a:path h="1636776" w="7315200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058031" y="7775551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uso correcto de la ia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1566" y="4943475"/>
            <a:ext cx="14695991" cy="4314825"/>
            <a:chOff x="0" y="0"/>
            <a:chExt cx="3870549" cy="1136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0549" cy="1136415"/>
            </a:xfrm>
            <a:custGeom>
              <a:avLst/>
              <a:gdLst/>
              <a:ahLst/>
              <a:cxnLst/>
              <a:rect r="r" b="b" t="t" l="l"/>
              <a:pathLst>
                <a:path h="1136415" w="3870549">
                  <a:moveTo>
                    <a:pt x="26867" y="0"/>
                  </a:moveTo>
                  <a:lnTo>
                    <a:pt x="3843682" y="0"/>
                  </a:lnTo>
                  <a:cubicBezTo>
                    <a:pt x="3850808" y="0"/>
                    <a:pt x="3857641" y="2831"/>
                    <a:pt x="3862680" y="7869"/>
                  </a:cubicBezTo>
                  <a:cubicBezTo>
                    <a:pt x="3867719" y="12908"/>
                    <a:pt x="3870549" y="19741"/>
                    <a:pt x="3870549" y="26867"/>
                  </a:cubicBezTo>
                  <a:lnTo>
                    <a:pt x="3870549" y="1109548"/>
                  </a:lnTo>
                  <a:cubicBezTo>
                    <a:pt x="3870549" y="1116673"/>
                    <a:pt x="3867719" y="1123507"/>
                    <a:pt x="3862680" y="1128546"/>
                  </a:cubicBezTo>
                  <a:cubicBezTo>
                    <a:pt x="3857641" y="1133584"/>
                    <a:pt x="3850808" y="1136415"/>
                    <a:pt x="3843682" y="1136415"/>
                  </a:cubicBezTo>
                  <a:lnTo>
                    <a:pt x="26867" y="1136415"/>
                  </a:lnTo>
                  <a:cubicBezTo>
                    <a:pt x="19741" y="1136415"/>
                    <a:pt x="12908" y="1133584"/>
                    <a:pt x="7869" y="1128546"/>
                  </a:cubicBezTo>
                  <a:cubicBezTo>
                    <a:pt x="2831" y="1123507"/>
                    <a:pt x="0" y="1116673"/>
                    <a:pt x="0" y="1109548"/>
                  </a:cubicBezTo>
                  <a:lnTo>
                    <a:pt x="0" y="26867"/>
                  </a:lnTo>
                  <a:cubicBezTo>
                    <a:pt x="0" y="19741"/>
                    <a:pt x="2831" y="12908"/>
                    <a:pt x="7869" y="7869"/>
                  </a:cubicBezTo>
                  <a:cubicBezTo>
                    <a:pt x="12908" y="2831"/>
                    <a:pt x="19741" y="0"/>
                    <a:pt x="26867" y="0"/>
                  </a:cubicBezTo>
                  <a:close/>
                </a:path>
              </a:pathLst>
            </a:custGeom>
            <a:solidFill>
              <a:srgbClr val="FFA85A"/>
            </a:solidFill>
            <a:ln w="1524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70549" cy="118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8506" y="653158"/>
            <a:ext cx="14499112" cy="2036762"/>
            <a:chOff x="0" y="0"/>
            <a:chExt cx="19332149" cy="2715683"/>
          </a:xfrm>
        </p:grpSpPr>
        <p:sp>
          <p:nvSpPr>
            <p:cNvPr name="AutoShape 6" id="6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356907" y="737207"/>
              <a:ext cx="2190714" cy="1330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1F1674"/>
                  </a:solidFill>
                  <a:latin typeface="Sifonn"/>
                  <a:ea typeface="Sifonn"/>
                  <a:cs typeface="Sifonn"/>
                  <a:sym typeface="Sifonn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825282" y="1281015"/>
            <a:ext cx="1178340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LLUVIA DE IDEAS DEL TEMA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11936" y="4638675"/>
            <a:ext cx="6724704" cy="4336949"/>
            <a:chOff x="0" y="0"/>
            <a:chExt cx="1771115" cy="11422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1115" cy="1142242"/>
            </a:xfrm>
            <a:custGeom>
              <a:avLst/>
              <a:gdLst/>
              <a:ahLst/>
              <a:cxnLst/>
              <a:rect r="r" b="b" t="t" l="l"/>
              <a:pathLst>
                <a:path h="1142242" w="1771115">
                  <a:moveTo>
                    <a:pt x="0" y="0"/>
                  </a:moveTo>
                  <a:lnTo>
                    <a:pt x="1771115" y="0"/>
                  </a:lnTo>
                  <a:lnTo>
                    <a:pt x="1771115" y="1142242"/>
                  </a:lnTo>
                  <a:lnTo>
                    <a:pt x="0" y="1142242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71115" cy="1189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18972" y="4638675"/>
            <a:ext cx="6724704" cy="4336949"/>
            <a:chOff x="0" y="0"/>
            <a:chExt cx="1771115" cy="1142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1115" cy="1142242"/>
            </a:xfrm>
            <a:custGeom>
              <a:avLst/>
              <a:gdLst/>
              <a:ahLst/>
              <a:cxnLst/>
              <a:rect r="r" b="b" t="t" l="l"/>
              <a:pathLst>
                <a:path h="1142242" w="1771115">
                  <a:moveTo>
                    <a:pt x="0" y="0"/>
                  </a:moveTo>
                  <a:lnTo>
                    <a:pt x="1771115" y="0"/>
                  </a:lnTo>
                  <a:lnTo>
                    <a:pt x="1771115" y="1142242"/>
                  </a:lnTo>
                  <a:lnTo>
                    <a:pt x="0" y="1142242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771115" cy="1189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14661" y="5060728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enfoque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13773" y="5724881"/>
            <a:ext cx="5721032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¿Por qué aprender esto antes?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Como piensa la computadora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Algoritmos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Dividir el problema, en problemas mas pequeños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Uso correcto de la IA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Herramientas con 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59561" y="5060728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ideas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20808" y="5724881"/>
            <a:ext cx="572103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Entender palabras reservadas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Benefición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Identificar errores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Uso correcto de estructuras condicionales y ciclos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08506" y="2783377"/>
            <a:ext cx="1449905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Se elegió el tema de “Pensamiento lógico y resolución de problema en programación” con una convinación con “Uso correcto de la IA para programar”.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4444" y="645577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56907" y="737207"/>
              <a:ext cx="2190714" cy="1330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1F1674"/>
                  </a:solidFill>
                  <a:latin typeface="Sifonn"/>
                  <a:ea typeface="Sifonn"/>
                  <a:cs typeface="Sifonn"/>
                  <a:sym typeface="Sifonn"/>
                </a:rPr>
                <a:t>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75192" y="1425039"/>
            <a:ext cx="1266027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C</a:t>
            </a:r>
            <a:r>
              <a:rPr lang="en-US" b="true" sz="50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APACITACIÓN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924022" y="4543237"/>
            <a:ext cx="4715063" cy="471506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48789" y="5890158"/>
            <a:ext cx="4380344" cy="2632218"/>
            <a:chOff x="0" y="0"/>
            <a:chExt cx="1153671" cy="6932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3671" cy="693259"/>
            </a:xfrm>
            <a:custGeom>
              <a:avLst/>
              <a:gdLst/>
              <a:ahLst/>
              <a:cxnLst/>
              <a:rect r="r" b="b" t="t" l="l"/>
              <a:pathLst>
                <a:path h="693259" w="1153671">
                  <a:moveTo>
                    <a:pt x="90139" y="0"/>
                  </a:moveTo>
                  <a:lnTo>
                    <a:pt x="1063532" y="0"/>
                  </a:lnTo>
                  <a:cubicBezTo>
                    <a:pt x="1087439" y="0"/>
                    <a:pt x="1110366" y="9497"/>
                    <a:pt x="1127270" y="26401"/>
                  </a:cubicBezTo>
                  <a:cubicBezTo>
                    <a:pt x="1144174" y="43305"/>
                    <a:pt x="1153671" y="66232"/>
                    <a:pt x="1153671" y="90139"/>
                  </a:cubicBezTo>
                  <a:lnTo>
                    <a:pt x="1153671" y="603121"/>
                  </a:lnTo>
                  <a:cubicBezTo>
                    <a:pt x="1153671" y="652903"/>
                    <a:pt x="1113315" y="693259"/>
                    <a:pt x="1063532" y="693259"/>
                  </a:cubicBezTo>
                  <a:lnTo>
                    <a:pt x="90139" y="693259"/>
                  </a:lnTo>
                  <a:cubicBezTo>
                    <a:pt x="66232" y="693259"/>
                    <a:pt x="43305" y="683762"/>
                    <a:pt x="26401" y="666858"/>
                  </a:cubicBezTo>
                  <a:cubicBezTo>
                    <a:pt x="9497" y="649954"/>
                    <a:pt x="0" y="627027"/>
                    <a:pt x="0" y="603121"/>
                  </a:cubicBezTo>
                  <a:lnTo>
                    <a:pt x="0" y="90139"/>
                  </a:lnTo>
                  <a:cubicBezTo>
                    <a:pt x="0" y="66232"/>
                    <a:pt x="9497" y="43305"/>
                    <a:pt x="26401" y="26401"/>
                  </a:cubicBezTo>
                  <a:cubicBezTo>
                    <a:pt x="43305" y="9497"/>
                    <a:pt x="66232" y="0"/>
                    <a:pt x="90139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53671" cy="740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15140" y="3101439"/>
            <a:ext cx="4380344" cy="2632218"/>
            <a:chOff x="0" y="0"/>
            <a:chExt cx="1153671" cy="6932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3671" cy="693259"/>
            </a:xfrm>
            <a:custGeom>
              <a:avLst/>
              <a:gdLst/>
              <a:ahLst/>
              <a:cxnLst/>
              <a:rect r="r" b="b" t="t" l="l"/>
              <a:pathLst>
                <a:path h="693259" w="1153671">
                  <a:moveTo>
                    <a:pt x="90139" y="0"/>
                  </a:moveTo>
                  <a:lnTo>
                    <a:pt x="1063532" y="0"/>
                  </a:lnTo>
                  <a:cubicBezTo>
                    <a:pt x="1087439" y="0"/>
                    <a:pt x="1110366" y="9497"/>
                    <a:pt x="1127270" y="26401"/>
                  </a:cubicBezTo>
                  <a:cubicBezTo>
                    <a:pt x="1144174" y="43305"/>
                    <a:pt x="1153671" y="66232"/>
                    <a:pt x="1153671" y="90139"/>
                  </a:cubicBezTo>
                  <a:lnTo>
                    <a:pt x="1153671" y="603121"/>
                  </a:lnTo>
                  <a:cubicBezTo>
                    <a:pt x="1153671" y="652903"/>
                    <a:pt x="1113315" y="693259"/>
                    <a:pt x="1063532" y="693259"/>
                  </a:cubicBezTo>
                  <a:lnTo>
                    <a:pt x="90139" y="693259"/>
                  </a:lnTo>
                  <a:cubicBezTo>
                    <a:pt x="66232" y="693259"/>
                    <a:pt x="43305" y="683762"/>
                    <a:pt x="26401" y="666858"/>
                  </a:cubicBezTo>
                  <a:cubicBezTo>
                    <a:pt x="9497" y="649954"/>
                    <a:pt x="0" y="627027"/>
                    <a:pt x="0" y="603121"/>
                  </a:cubicBezTo>
                  <a:lnTo>
                    <a:pt x="0" y="90139"/>
                  </a:lnTo>
                  <a:cubicBezTo>
                    <a:pt x="0" y="66232"/>
                    <a:pt x="9497" y="43305"/>
                    <a:pt x="26401" y="26401"/>
                  </a:cubicBezTo>
                  <a:cubicBezTo>
                    <a:pt x="43305" y="9497"/>
                    <a:pt x="66232" y="0"/>
                    <a:pt x="90139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53671" cy="740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81491" y="5890158"/>
            <a:ext cx="4380344" cy="2632218"/>
            <a:chOff x="0" y="0"/>
            <a:chExt cx="1153671" cy="6932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3671" cy="693259"/>
            </a:xfrm>
            <a:custGeom>
              <a:avLst/>
              <a:gdLst/>
              <a:ahLst/>
              <a:cxnLst/>
              <a:rect r="r" b="b" t="t" l="l"/>
              <a:pathLst>
                <a:path h="693259" w="1153671">
                  <a:moveTo>
                    <a:pt x="90139" y="0"/>
                  </a:moveTo>
                  <a:lnTo>
                    <a:pt x="1063532" y="0"/>
                  </a:lnTo>
                  <a:cubicBezTo>
                    <a:pt x="1087439" y="0"/>
                    <a:pt x="1110366" y="9497"/>
                    <a:pt x="1127270" y="26401"/>
                  </a:cubicBezTo>
                  <a:cubicBezTo>
                    <a:pt x="1144174" y="43305"/>
                    <a:pt x="1153671" y="66232"/>
                    <a:pt x="1153671" y="90139"/>
                  </a:cubicBezTo>
                  <a:lnTo>
                    <a:pt x="1153671" y="603121"/>
                  </a:lnTo>
                  <a:cubicBezTo>
                    <a:pt x="1153671" y="652903"/>
                    <a:pt x="1113315" y="693259"/>
                    <a:pt x="1063532" y="693259"/>
                  </a:cubicBezTo>
                  <a:lnTo>
                    <a:pt x="90139" y="693259"/>
                  </a:lnTo>
                  <a:cubicBezTo>
                    <a:pt x="66232" y="693259"/>
                    <a:pt x="43305" y="683762"/>
                    <a:pt x="26401" y="666858"/>
                  </a:cubicBezTo>
                  <a:cubicBezTo>
                    <a:pt x="9497" y="649954"/>
                    <a:pt x="0" y="627027"/>
                    <a:pt x="0" y="603121"/>
                  </a:cubicBezTo>
                  <a:lnTo>
                    <a:pt x="0" y="90139"/>
                  </a:lnTo>
                  <a:cubicBezTo>
                    <a:pt x="0" y="66232"/>
                    <a:pt x="9497" y="43305"/>
                    <a:pt x="26401" y="26401"/>
                  </a:cubicBezTo>
                  <a:cubicBezTo>
                    <a:pt x="43305" y="9497"/>
                    <a:pt x="66232" y="0"/>
                    <a:pt x="90139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53671" cy="740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30625" y="3220949"/>
            <a:ext cx="4226739" cy="2475437"/>
            <a:chOff x="0" y="0"/>
            <a:chExt cx="1113215" cy="6519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3215" cy="651967"/>
            </a:xfrm>
            <a:custGeom>
              <a:avLst/>
              <a:gdLst/>
              <a:ahLst/>
              <a:cxnLst/>
              <a:rect r="r" b="b" t="t" l="l"/>
              <a:pathLst>
                <a:path h="651967" w="1113215">
                  <a:moveTo>
                    <a:pt x="93414" y="0"/>
                  </a:moveTo>
                  <a:lnTo>
                    <a:pt x="1019801" y="0"/>
                  </a:lnTo>
                  <a:cubicBezTo>
                    <a:pt x="1071392" y="0"/>
                    <a:pt x="1113215" y="41823"/>
                    <a:pt x="1113215" y="93414"/>
                  </a:cubicBezTo>
                  <a:lnTo>
                    <a:pt x="1113215" y="558553"/>
                  </a:lnTo>
                  <a:cubicBezTo>
                    <a:pt x="1113215" y="610144"/>
                    <a:pt x="1071392" y="651967"/>
                    <a:pt x="1019801" y="651967"/>
                  </a:cubicBezTo>
                  <a:lnTo>
                    <a:pt x="93414" y="651967"/>
                  </a:lnTo>
                  <a:cubicBezTo>
                    <a:pt x="41823" y="651967"/>
                    <a:pt x="0" y="610144"/>
                    <a:pt x="0" y="558553"/>
                  </a:cubicBezTo>
                  <a:lnTo>
                    <a:pt x="0" y="93414"/>
                  </a:lnTo>
                  <a:cubicBezTo>
                    <a:pt x="0" y="41823"/>
                    <a:pt x="41823" y="0"/>
                    <a:pt x="93414" y="0"/>
                  </a:cubicBezTo>
                  <a:close/>
                </a:path>
              </a:pathLst>
            </a:custGeom>
            <a:solidFill>
              <a:srgbClr val="61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13215" cy="699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05328" y="6009882"/>
            <a:ext cx="4226739" cy="2475437"/>
            <a:chOff x="0" y="0"/>
            <a:chExt cx="1113215" cy="6519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3215" cy="651967"/>
            </a:xfrm>
            <a:custGeom>
              <a:avLst/>
              <a:gdLst/>
              <a:ahLst/>
              <a:cxnLst/>
              <a:rect r="r" b="b" t="t" l="l"/>
              <a:pathLst>
                <a:path h="651967" w="1113215">
                  <a:moveTo>
                    <a:pt x="93414" y="0"/>
                  </a:moveTo>
                  <a:lnTo>
                    <a:pt x="1019801" y="0"/>
                  </a:lnTo>
                  <a:cubicBezTo>
                    <a:pt x="1071392" y="0"/>
                    <a:pt x="1113215" y="41823"/>
                    <a:pt x="1113215" y="93414"/>
                  </a:cubicBezTo>
                  <a:lnTo>
                    <a:pt x="1113215" y="558553"/>
                  </a:lnTo>
                  <a:cubicBezTo>
                    <a:pt x="1113215" y="610144"/>
                    <a:pt x="1071392" y="651967"/>
                    <a:pt x="1019801" y="651967"/>
                  </a:cubicBezTo>
                  <a:lnTo>
                    <a:pt x="93414" y="651967"/>
                  </a:lnTo>
                  <a:cubicBezTo>
                    <a:pt x="41823" y="651967"/>
                    <a:pt x="0" y="610144"/>
                    <a:pt x="0" y="558553"/>
                  </a:cubicBezTo>
                  <a:lnTo>
                    <a:pt x="0" y="93414"/>
                  </a:lnTo>
                  <a:cubicBezTo>
                    <a:pt x="0" y="41823"/>
                    <a:pt x="41823" y="0"/>
                    <a:pt x="93414" y="0"/>
                  </a:cubicBezTo>
                  <a:close/>
                </a:path>
              </a:pathLst>
            </a:custGeom>
            <a:solidFill>
              <a:srgbClr val="9ACEE2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113215" cy="699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902060" y="5521276"/>
            <a:ext cx="3063785" cy="306378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39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92870" y="6004850"/>
            <a:ext cx="4226739" cy="2475437"/>
            <a:chOff x="0" y="0"/>
            <a:chExt cx="1113215" cy="6519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3215" cy="651967"/>
            </a:xfrm>
            <a:custGeom>
              <a:avLst/>
              <a:gdLst/>
              <a:ahLst/>
              <a:cxnLst/>
              <a:rect r="r" b="b" t="t" l="l"/>
              <a:pathLst>
                <a:path h="651967" w="1113215">
                  <a:moveTo>
                    <a:pt x="93414" y="0"/>
                  </a:moveTo>
                  <a:lnTo>
                    <a:pt x="1019801" y="0"/>
                  </a:lnTo>
                  <a:cubicBezTo>
                    <a:pt x="1071392" y="0"/>
                    <a:pt x="1113215" y="41823"/>
                    <a:pt x="1113215" y="93414"/>
                  </a:cubicBezTo>
                  <a:lnTo>
                    <a:pt x="1113215" y="558553"/>
                  </a:lnTo>
                  <a:cubicBezTo>
                    <a:pt x="1113215" y="610144"/>
                    <a:pt x="1071392" y="651967"/>
                    <a:pt x="1019801" y="651967"/>
                  </a:cubicBezTo>
                  <a:lnTo>
                    <a:pt x="93414" y="651967"/>
                  </a:lnTo>
                  <a:cubicBezTo>
                    <a:pt x="41823" y="651967"/>
                    <a:pt x="0" y="610144"/>
                    <a:pt x="0" y="558553"/>
                  </a:cubicBezTo>
                  <a:lnTo>
                    <a:pt x="0" y="93414"/>
                  </a:lnTo>
                  <a:cubicBezTo>
                    <a:pt x="0" y="41823"/>
                    <a:pt x="41823" y="0"/>
                    <a:pt x="93414" y="0"/>
                  </a:cubicBezTo>
                  <a:close/>
                </a:path>
              </a:pathLst>
            </a:custGeom>
            <a:solidFill>
              <a:srgbClr val="FFA85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113215" cy="699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792469" y="5416501"/>
            <a:ext cx="3063785" cy="306378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AEB"/>
            </a:solidFill>
            <a:ln w="76200" cap="sq">
              <a:solidFill>
                <a:srgbClr val="4E639E"/>
              </a:solidFill>
              <a:prstDash val="lgDash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7655156">
            <a:off x="8181590" y="5944688"/>
            <a:ext cx="1323714" cy="915678"/>
            <a:chOff x="0" y="0"/>
            <a:chExt cx="812800" cy="5622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562253"/>
            </a:xfrm>
            <a:custGeom>
              <a:avLst/>
              <a:gdLst/>
              <a:ahLst/>
              <a:cxnLst/>
              <a:rect r="r" b="b" t="t" l="l"/>
              <a:pathLst>
                <a:path h="562253" w="812800">
                  <a:moveTo>
                    <a:pt x="812800" y="28112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59053"/>
                  </a:lnTo>
                  <a:lnTo>
                    <a:pt x="406400" y="359053"/>
                  </a:lnTo>
                  <a:lnTo>
                    <a:pt x="406400" y="562253"/>
                  </a:lnTo>
                  <a:lnTo>
                    <a:pt x="812800" y="281127"/>
                  </a:lnTo>
                  <a:close/>
                </a:path>
              </a:pathLst>
            </a:custGeom>
            <a:solidFill>
              <a:srgbClr val="61E1FF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155575"/>
              <a:ext cx="711200" cy="20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43447" y="6467478"/>
            <a:ext cx="961831" cy="96183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E1FF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334953" y="3712698"/>
            <a:ext cx="4018084" cy="14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¿Qué se quiere dar?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192870" y="6199851"/>
            <a:ext cx="3467355" cy="2097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¿comó lo vamos a explicar?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856255" y="6199851"/>
            <a:ext cx="3404928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¿Qué se espera lograr?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900597" y="6543678"/>
            <a:ext cx="809431" cy="80943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4444" y="612775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56907" y="737207"/>
              <a:ext cx="2190714" cy="1330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1F1674"/>
                  </a:solidFill>
                  <a:latin typeface="Sifonn"/>
                  <a:ea typeface="Sifonn"/>
                  <a:cs typeface="Sifonn"/>
                  <a:sym typeface="Sifonn"/>
                </a:rPr>
                <a:t>4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894444" y="4105431"/>
            <a:ext cx="6731779" cy="4114800"/>
          </a:xfrm>
          <a:custGeom>
            <a:avLst/>
            <a:gdLst/>
            <a:ahLst/>
            <a:cxnLst/>
            <a:rect r="r" b="b" t="t" l="l"/>
            <a:pathLst>
              <a:path h="4114800" w="6731779">
                <a:moveTo>
                  <a:pt x="0" y="0"/>
                </a:moveTo>
                <a:lnTo>
                  <a:pt x="6731779" y="0"/>
                </a:lnTo>
                <a:lnTo>
                  <a:pt x="67317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39425" y="1317578"/>
            <a:ext cx="1136950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O</a:t>
            </a:r>
            <a:r>
              <a:rPr lang="en-US" b="true" sz="50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RGANIZACIÓN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661777" y="4105431"/>
            <a:ext cx="6731779" cy="4114800"/>
          </a:xfrm>
          <a:custGeom>
            <a:avLst/>
            <a:gdLst/>
            <a:ahLst/>
            <a:cxnLst/>
            <a:rect r="r" b="b" t="t" l="l"/>
            <a:pathLst>
              <a:path h="4114800" w="6731779">
                <a:moveTo>
                  <a:pt x="0" y="0"/>
                </a:moveTo>
                <a:lnTo>
                  <a:pt x="6731779" y="0"/>
                </a:lnTo>
                <a:lnTo>
                  <a:pt x="67317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99099" y="4431723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Angel Juárez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94444" y="5797418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Daniel Cabrera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94444" y="7166420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Marco Merida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24178" y="4431723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Luis Saloj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61777" y="5797418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Giovanni Villegas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61777" y="7166420"/>
            <a:ext cx="7244901" cy="7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Ashley López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9983" y="3324225"/>
            <a:ext cx="1563065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Fue un problema este apartado sobre el lugar, al tener que contar con 20 personas como mínimo, pero tuvimos dos lugares principales a donde dar la capacitación.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60319" y="5753394"/>
            <a:ext cx="992743" cy="757903"/>
          </a:xfrm>
          <a:custGeom>
            <a:avLst/>
            <a:gdLst/>
            <a:ahLst/>
            <a:cxnLst/>
            <a:rect r="r" b="b" t="t" l="l"/>
            <a:pathLst>
              <a:path h="757903" w="992743">
                <a:moveTo>
                  <a:pt x="0" y="0"/>
                </a:moveTo>
                <a:lnTo>
                  <a:pt x="992743" y="0"/>
                </a:lnTo>
                <a:lnTo>
                  <a:pt x="992743" y="757903"/>
                </a:lnTo>
                <a:lnTo>
                  <a:pt x="0" y="75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925" t="-3810" r="-18249" b="-23851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03396" y="8035297"/>
            <a:ext cx="992743" cy="757903"/>
          </a:xfrm>
          <a:custGeom>
            <a:avLst/>
            <a:gdLst/>
            <a:ahLst/>
            <a:cxnLst/>
            <a:rect r="r" b="b" t="t" l="l"/>
            <a:pathLst>
              <a:path h="757903" w="992743">
                <a:moveTo>
                  <a:pt x="0" y="0"/>
                </a:moveTo>
                <a:lnTo>
                  <a:pt x="992743" y="0"/>
                </a:lnTo>
                <a:lnTo>
                  <a:pt x="992743" y="757903"/>
                </a:lnTo>
                <a:lnTo>
                  <a:pt x="0" y="75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925" t="-3810" r="-18249" b="-238516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803305" y="5143500"/>
            <a:ext cx="438150" cy="4114800"/>
            <a:chOff x="0" y="0"/>
            <a:chExt cx="584200" cy="5486400"/>
          </a:xfrm>
        </p:grpSpPr>
        <p:grpSp>
          <p:nvGrpSpPr>
            <p:cNvPr name="Group 6" id="6"/>
            <p:cNvGrpSpPr/>
            <p:nvPr/>
          </p:nvGrpSpPr>
          <p:grpSpPr>
            <a:xfrm rot="-10800000">
              <a:off x="0" y="2355915"/>
              <a:ext cx="571500" cy="1143000"/>
              <a:chOff x="0" y="0"/>
              <a:chExt cx="4064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6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06400">
                    <a:moveTo>
                      <a:pt x="406400" y="406400"/>
                    </a:moveTo>
                    <a:lnTo>
                      <a:pt x="0" y="0"/>
                    </a:lnTo>
                    <a:lnTo>
                      <a:pt x="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0" y="609600"/>
                    </a:lnTo>
                    <a:lnTo>
                      <a:pt x="0" y="812800"/>
                    </a:lnTo>
                    <a:lnTo>
                      <a:pt x="406400" y="406400"/>
                    </a:lnTo>
                    <a:close/>
                  </a:path>
                </a:pathLst>
              </a:custGeom>
              <a:solidFill>
                <a:srgbClr val="61E1FF"/>
              </a:solidFill>
              <a:ln w="57150" cap="sq">
                <a:solidFill>
                  <a:srgbClr val="FFA85A"/>
                </a:solidFill>
                <a:prstDash val="dash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55575"/>
                <a:ext cx="304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AutoShape 9" id="9"/>
            <p:cNvSpPr/>
            <p:nvPr/>
          </p:nvSpPr>
          <p:spPr>
            <a:xfrm>
              <a:off x="539750" y="0"/>
              <a:ext cx="0" cy="5486400"/>
            </a:xfrm>
            <a:prstGeom prst="line">
              <a:avLst/>
            </a:prstGeom>
            <a:ln cap="flat" w="88900">
              <a:solidFill>
                <a:srgbClr val="4E639E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6634211"/>
            <a:ext cx="4297413" cy="14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posibles lugares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16715" y="5298757"/>
            <a:ext cx="954258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Solicitar permiso en el Colegio Salesiano Don Bosco para dar la capacitación a una clase.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6715" y="7596505"/>
            <a:ext cx="9542585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Clase en la Universidad, dando boletines a personas de primer ingreso de sistemas para dar la capacitación.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94444" y="612775"/>
            <a:ext cx="14499112" cy="2036762"/>
            <a:chOff x="0" y="0"/>
            <a:chExt cx="19332149" cy="2715683"/>
          </a:xfrm>
        </p:grpSpPr>
        <p:sp>
          <p:nvSpPr>
            <p:cNvPr name="AutoShape 14" id="14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21" id="21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356907" y="737207"/>
              <a:ext cx="2190714" cy="1330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1F1674"/>
                  </a:solidFill>
                  <a:latin typeface="Sifonn"/>
                  <a:ea typeface="Sifonn"/>
                  <a:cs typeface="Sifonn"/>
                  <a:sym typeface="Sifonn"/>
                </a:rPr>
                <a:t>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235644" y="1365250"/>
            <a:ext cx="104459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LUGAR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7032" y="5013764"/>
            <a:ext cx="6053936" cy="3086100"/>
            <a:chOff x="0" y="0"/>
            <a:chExt cx="159445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4452" cy="812800"/>
            </a:xfrm>
            <a:custGeom>
              <a:avLst/>
              <a:gdLst/>
              <a:ahLst/>
              <a:cxnLst/>
              <a:rect r="r" b="b" t="t" l="l"/>
              <a:pathLst>
                <a:path h="812800" w="1594452">
                  <a:moveTo>
                    <a:pt x="0" y="0"/>
                  </a:moveTo>
                  <a:lnTo>
                    <a:pt x="1594452" y="0"/>
                  </a:lnTo>
                  <a:lnTo>
                    <a:pt x="1594452" y="812800"/>
                  </a:lnTo>
                  <a:lnTo>
                    <a:pt x="0" y="812800"/>
                  </a:lnTo>
                  <a:close/>
                </a:path>
              </a:pathLst>
            </a:custGeom>
            <a:ln w="47625" cap="sq">
              <a:solidFill>
                <a:srgbClr val="61E1FF"/>
              </a:solidFill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9445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141243"/>
            <a:ext cx="6053936" cy="3086100"/>
            <a:chOff x="0" y="0"/>
            <a:chExt cx="159445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4452" cy="812800"/>
            </a:xfrm>
            <a:custGeom>
              <a:avLst/>
              <a:gdLst/>
              <a:ahLst/>
              <a:cxnLst/>
              <a:rect r="r" b="b" t="t" l="l"/>
              <a:pathLst>
                <a:path h="812800" w="1594452">
                  <a:moveTo>
                    <a:pt x="38365" y="0"/>
                  </a:moveTo>
                  <a:lnTo>
                    <a:pt x="1556088" y="0"/>
                  </a:lnTo>
                  <a:cubicBezTo>
                    <a:pt x="1566263" y="0"/>
                    <a:pt x="1576021" y="4042"/>
                    <a:pt x="1583216" y="11237"/>
                  </a:cubicBezTo>
                  <a:cubicBezTo>
                    <a:pt x="1590410" y="18432"/>
                    <a:pt x="1594452" y="28190"/>
                    <a:pt x="1594452" y="38365"/>
                  </a:cubicBezTo>
                  <a:lnTo>
                    <a:pt x="1594452" y="774435"/>
                  </a:lnTo>
                  <a:cubicBezTo>
                    <a:pt x="1594452" y="784610"/>
                    <a:pt x="1590410" y="794368"/>
                    <a:pt x="1583216" y="801563"/>
                  </a:cubicBezTo>
                  <a:cubicBezTo>
                    <a:pt x="1576021" y="808758"/>
                    <a:pt x="1566263" y="812800"/>
                    <a:pt x="1556088" y="812800"/>
                  </a:cubicBezTo>
                  <a:lnTo>
                    <a:pt x="38365" y="812800"/>
                  </a:lnTo>
                  <a:cubicBezTo>
                    <a:pt x="28190" y="812800"/>
                    <a:pt x="18432" y="808758"/>
                    <a:pt x="11237" y="801563"/>
                  </a:cubicBezTo>
                  <a:cubicBezTo>
                    <a:pt x="4042" y="794368"/>
                    <a:pt x="0" y="784610"/>
                    <a:pt x="0" y="774435"/>
                  </a:cubicBezTo>
                  <a:lnTo>
                    <a:pt x="0" y="38365"/>
                  </a:lnTo>
                  <a:cubicBezTo>
                    <a:pt x="0" y="28190"/>
                    <a:pt x="4042" y="18432"/>
                    <a:pt x="11237" y="11237"/>
                  </a:cubicBezTo>
                  <a:cubicBezTo>
                    <a:pt x="18432" y="4042"/>
                    <a:pt x="28190" y="0"/>
                    <a:pt x="38365" y="0"/>
                  </a:cubicBezTo>
                  <a:close/>
                </a:path>
              </a:pathLst>
            </a:custGeom>
            <a:solidFill>
              <a:srgbClr val="C3D5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9445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</a:p>
            <a:p>
              <a:pPr algn="l" marL="496569" indent="-248284" lvl="1">
                <a:lnSpc>
                  <a:spcPts val="3219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141243"/>
            <a:ext cx="6053936" cy="765386"/>
            <a:chOff x="0" y="0"/>
            <a:chExt cx="1594452" cy="201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4452" cy="201583"/>
            </a:xfrm>
            <a:custGeom>
              <a:avLst/>
              <a:gdLst/>
              <a:ahLst/>
              <a:cxnLst/>
              <a:rect r="r" b="b" t="t" l="l"/>
              <a:pathLst>
                <a:path h="201583" w="1594452">
                  <a:moveTo>
                    <a:pt x="0" y="0"/>
                  </a:moveTo>
                  <a:lnTo>
                    <a:pt x="1594452" y="0"/>
                  </a:lnTo>
                  <a:lnTo>
                    <a:pt x="1594452" y="201583"/>
                  </a:lnTo>
                  <a:lnTo>
                    <a:pt x="0" y="201583"/>
                  </a:lnTo>
                  <a:close/>
                </a:path>
              </a:pathLst>
            </a:custGeom>
            <a:solidFill>
              <a:srgbClr val="F2981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594452" cy="21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pc="396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Actividades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05364" y="3028950"/>
            <a:ext cx="6053936" cy="3328886"/>
            <a:chOff x="0" y="0"/>
            <a:chExt cx="1594452" cy="8767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4452" cy="876744"/>
            </a:xfrm>
            <a:custGeom>
              <a:avLst/>
              <a:gdLst/>
              <a:ahLst/>
              <a:cxnLst/>
              <a:rect r="r" b="b" t="t" l="l"/>
              <a:pathLst>
                <a:path h="876744" w="1594452">
                  <a:moveTo>
                    <a:pt x="38365" y="0"/>
                  </a:moveTo>
                  <a:lnTo>
                    <a:pt x="1556088" y="0"/>
                  </a:lnTo>
                  <a:cubicBezTo>
                    <a:pt x="1566263" y="0"/>
                    <a:pt x="1576021" y="4042"/>
                    <a:pt x="1583216" y="11237"/>
                  </a:cubicBezTo>
                  <a:cubicBezTo>
                    <a:pt x="1590410" y="18432"/>
                    <a:pt x="1594452" y="28190"/>
                    <a:pt x="1594452" y="38365"/>
                  </a:cubicBezTo>
                  <a:lnTo>
                    <a:pt x="1594452" y="838379"/>
                  </a:lnTo>
                  <a:cubicBezTo>
                    <a:pt x="1594452" y="848554"/>
                    <a:pt x="1590410" y="858312"/>
                    <a:pt x="1583216" y="865507"/>
                  </a:cubicBezTo>
                  <a:cubicBezTo>
                    <a:pt x="1576021" y="872702"/>
                    <a:pt x="1566263" y="876744"/>
                    <a:pt x="1556088" y="876744"/>
                  </a:cubicBezTo>
                  <a:lnTo>
                    <a:pt x="38365" y="876744"/>
                  </a:lnTo>
                  <a:cubicBezTo>
                    <a:pt x="28190" y="876744"/>
                    <a:pt x="18432" y="872702"/>
                    <a:pt x="11237" y="865507"/>
                  </a:cubicBezTo>
                  <a:cubicBezTo>
                    <a:pt x="4042" y="858312"/>
                    <a:pt x="0" y="848554"/>
                    <a:pt x="0" y="838379"/>
                  </a:cubicBezTo>
                  <a:lnTo>
                    <a:pt x="0" y="38365"/>
                  </a:lnTo>
                  <a:cubicBezTo>
                    <a:pt x="0" y="28190"/>
                    <a:pt x="4042" y="18432"/>
                    <a:pt x="11237" y="11237"/>
                  </a:cubicBezTo>
                  <a:cubicBezTo>
                    <a:pt x="18432" y="4042"/>
                    <a:pt x="28190" y="0"/>
                    <a:pt x="38365" y="0"/>
                  </a:cubicBezTo>
                  <a:close/>
                </a:path>
              </a:pathLst>
            </a:custGeom>
            <a:solidFill>
              <a:srgbClr val="C3D5E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94452" cy="92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 dara una clara introducción antes de la explicación directa del tema, confirmando que se comprenda antes de empezar y concluyendo con un cierre con actividades de compresión y evaluación.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5364" y="3028950"/>
            <a:ext cx="6053936" cy="765386"/>
            <a:chOff x="0" y="0"/>
            <a:chExt cx="1594452" cy="2015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4452" cy="201583"/>
            </a:xfrm>
            <a:custGeom>
              <a:avLst/>
              <a:gdLst/>
              <a:ahLst/>
              <a:cxnLst/>
              <a:rect r="r" b="b" t="t" l="l"/>
              <a:pathLst>
                <a:path h="201583" w="1594452">
                  <a:moveTo>
                    <a:pt x="0" y="0"/>
                  </a:moveTo>
                  <a:lnTo>
                    <a:pt x="1594452" y="0"/>
                  </a:lnTo>
                  <a:lnTo>
                    <a:pt x="1594452" y="201583"/>
                  </a:lnTo>
                  <a:lnTo>
                    <a:pt x="0" y="201583"/>
                  </a:lnTo>
                  <a:close/>
                </a:path>
              </a:pathLst>
            </a:custGeom>
            <a:solidFill>
              <a:srgbClr val="F2981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594452" cy="21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pc="396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Introducción y Cierre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975545"/>
            <a:ext cx="6053936" cy="3086100"/>
            <a:chOff x="0" y="0"/>
            <a:chExt cx="1594452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4452" cy="812800"/>
            </a:xfrm>
            <a:custGeom>
              <a:avLst/>
              <a:gdLst/>
              <a:ahLst/>
              <a:cxnLst/>
              <a:rect r="r" b="b" t="t" l="l"/>
              <a:pathLst>
                <a:path h="812800" w="1594452">
                  <a:moveTo>
                    <a:pt x="38365" y="0"/>
                  </a:moveTo>
                  <a:lnTo>
                    <a:pt x="1556088" y="0"/>
                  </a:lnTo>
                  <a:cubicBezTo>
                    <a:pt x="1566263" y="0"/>
                    <a:pt x="1576021" y="4042"/>
                    <a:pt x="1583216" y="11237"/>
                  </a:cubicBezTo>
                  <a:cubicBezTo>
                    <a:pt x="1590410" y="18432"/>
                    <a:pt x="1594452" y="28190"/>
                    <a:pt x="1594452" y="38365"/>
                  </a:cubicBezTo>
                  <a:lnTo>
                    <a:pt x="1594452" y="774435"/>
                  </a:lnTo>
                  <a:cubicBezTo>
                    <a:pt x="1594452" y="784610"/>
                    <a:pt x="1590410" y="794368"/>
                    <a:pt x="1583216" y="801563"/>
                  </a:cubicBezTo>
                  <a:cubicBezTo>
                    <a:pt x="1576021" y="808758"/>
                    <a:pt x="1566263" y="812800"/>
                    <a:pt x="1556088" y="812800"/>
                  </a:cubicBezTo>
                  <a:lnTo>
                    <a:pt x="38365" y="812800"/>
                  </a:lnTo>
                  <a:cubicBezTo>
                    <a:pt x="28190" y="812800"/>
                    <a:pt x="18432" y="808758"/>
                    <a:pt x="11237" y="801563"/>
                  </a:cubicBezTo>
                  <a:cubicBezTo>
                    <a:pt x="4042" y="794368"/>
                    <a:pt x="0" y="784610"/>
                    <a:pt x="0" y="774435"/>
                  </a:cubicBezTo>
                  <a:lnTo>
                    <a:pt x="0" y="38365"/>
                  </a:lnTo>
                  <a:cubicBezTo>
                    <a:pt x="0" y="28190"/>
                    <a:pt x="4042" y="18432"/>
                    <a:pt x="11237" y="11237"/>
                  </a:cubicBezTo>
                  <a:cubicBezTo>
                    <a:pt x="18432" y="4042"/>
                    <a:pt x="28190" y="0"/>
                    <a:pt x="38365" y="0"/>
                  </a:cubicBezTo>
                  <a:close/>
                </a:path>
              </a:pathLst>
            </a:custGeom>
            <a:solidFill>
              <a:srgbClr val="C3D5E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9445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Cada integrante debe de dudar 10 minutos netos como mínimo.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6975545"/>
            <a:ext cx="6053936" cy="765386"/>
            <a:chOff x="0" y="0"/>
            <a:chExt cx="1594452" cy="2015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94452" cy="201583"/>
            </a:xfrm>
            <a:custGeom>
              <a:avLst/>
              <a:gdLst/>
              <a:ahLst/>
              <a:cxnLst/>
              <a:rect r="r" b="b" t="t" l="l"/>
              <a:pathLst>
                <a:path h="201583" w="1594452">
                  <a:moveTo>
                    <a:pt x="0" y="0"/>
                  </a:moveTo>
                  <a:lnTo>
                    <a:pt x="1594452" y="0"/>
                  </a:lnTo>
                  <a:lnTo>
                    <a:pt x="1594452" y="201583"/>
                  </a:lnTo>
                  <a:lnTo>
                    <a:pt x="0" y="201583"/>
                  </a:lnTo>
                  <a:close/>
                </a:path>
              </a:pathLst>
            </a:custGeom>
            <a:solidFill>
              <a:srgbClr val="F298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94452" cy="21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pc="396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Tiempo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205364" y="6975545"/>
            <a:ext cx="6053936" cy="3086100"/>
            <a:chOff x="0" y="0"/>
            <a:chExt cx="1594452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94452" cy="812800"/>
            </a:xfrm>
            <a:custGeom>
              <a:avLst/>
              <a:gdLst/>
              <a:ahLst/>
              <a:cxnLst/>
              <a:rect r="r" b="b" t="t" l="l"/>
              <a:pathLst>
                <a:path h="812800" w="1594452">
                  <a:moveTo>
                    <a:pt x="38365" y="0"/>
                  </a:moveTo>
                  <a:lnTo>
                    <a:pt x="1556088" y="0"/>
                  </a:lnTo>
                  <a:cubicBezTo>
                    <a:pt x="1566263" y="0"/>
                    <a:pt x="1576021" y="4042"/>
                    <a:pt x="1583216" y="11237"/>
                  </a:cubicBezTo>
                  <a:cubicBezTo>
                    <a:pt x="1590410" y="18432"/>
                    <a:pt x="1594452" y="28190"/>
                    <a:pt x="1594452" y="38365"/>
                  </a:cubicBezTo>
                  <a:lnTo>
                    <a:pt x="1594452" y="774435"/>
                  </a:lnTo>
                  <a:cubicBezTo>
                    <a:pt x="1594452" y="784610"/>
                    <a:pt x="1590410" y="794368"/>
                    <a:pt x="1583216" y="801563"/>
                  </a:cubicBezTo>
                  <a:cubicBezTo>
                    <a:pt x="1576021" y="808758"/>
                    <a:pt x="1566263" y="812800"/>
                    <a:pt x="1556088" y="812800"/>
                  </a:cubicBezTo>
                  <a:lnTo>
                    <a:pt x="38365" y="812800"/>
                  </a:lnTo>
                  <a:cubicBezTo>
                    <a:pt x="28190" y="812800"/>
                    <a:pt x="18432" y="808758"/>
                    <a:pt x="11237" y="801563"/>
                  </a:cubicBezTo>
                  <a:cubicBezTo>
                    <a:pt x="4042" y="794368"/>
                    <a:pt x="0" y="784610"/>
                    <a:pt x="0" y="774435"/>
                  </a:cubicBezTo>
                  <a:lnTo>
                    <a:pt x="0" y="38365"/>
                  </a:lnTo>
                  <a:cubicBezTo>
                    <a:pt x="0" y="28190"/>
                    <a:pt x="4042" y="18432"/>
                    <a:pt x="11237" y="11237"/>
                  </a:cubicBezTo>
                  <a:cubicBezTo>
                    <a:pt x="18432" y="4042"/>
                    <a:pt x="28190" y="0"/>
                    <a:pt x="38365" y="0"/>
                  </a:cubicBezTo>
                  <a:close/>
                </a:path>
              </a:pathLst>
            </a:custGeom>
            <a:solidFill>
              <a:srgbClr val="C3D5EC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59445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 el cierre se propondrá una actividad de evaluación para tener una idea de que tan buena fue la compresión de los oyentes.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05364" y="6975545"/>
            <a:ext cx="6053936" cy="765386"/>
            <a:chOff x="0" y="0"/>
            <a:chExt cx="1594452" cy="2015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94452" cy="201583"/>
            </a:xfrm>
            <a:custGeom>
              <a:avLst/>
              <a:gdLst/>
              <a:ahLst/>
              <a:cxnLst/>
              <a:rect r="r" b="b" t="t" l="l"/>
              <a:pathLst>
                <a:path h="201583" w="1594452">
                  <a:moveTo>
                    <a:pt x="0" y="0"/>
                  </a:moveTo>
                  <a:lnTo>
                    <a:pt x="1594452" y="0"/>
                  </a:lnTo>
                  <a:lnTo>
                    <a:pt x="1594452" y="201583"/>
                  </a:lnTo>
                  <a:lnTo>
                    <a:pt x="0" y="201583"/>
                  </a:lnTo>
                  <a:close/>
                </a:path>
              </a:pathLst>
            </a:custGeom>
            <a:solidFill>
              <a:srgbClr val="F2981B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594452" cy="21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pc="396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pequeña evaluación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94444" y="654888"/>
            <a:ext cx="14499112" cy="2036762"/>
            <a:chOff x="0" y="0"/>
            <a:chExt cx="19332149" cy="2715683"/>
          </a:xfrm>
        </p:grpSpPr>
        <p:sp>
          <p:nvSpPr>
            <p:cNvPr name="AutoShape 30" id="30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31" id="31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37" id="37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356907" y="737207"/>
              <a:ext cx="2190714" cy="1330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1F1674"/>
                  </a:solidFill>
                  <a:latin typeface="Sifonn"/>
                  <a:ea typeface="Sifonn"/>
                  <a:cs typeface="Sifonn"/>
                  <a:sym typeface="Sifonn"/>
                </a:rPr>
                <a:t>6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837432" y="1282744"/>
            <a:ext cx="1171673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PLANIFICACIÓN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7807315" y="5451011"/>
            <a:ext cx="2673370" cy="2211606"/>
          </a:xfrm>
          <a:custGeom>
            <a:avLst/>
            <a:gdLst/>
            <a:ahLst/>
            <a:cxnLst/>
            <a:rect r="r" b="b" t="t" l="l"/>
            <a:pathLst>
              <a:path h="2211606" w="2673370">
                <a:moveTo>
                  <a:pt x="0" y="0"/>
                </a:moveTo>
                <a:lnTo>
                  <a:pt x="2673370" y="0"/>
                </a:lnTo>
                <a:lnTo>
                  <a:pt x="2673370" y="2211607"/>
                </a:lnTo>
                <a:lnTo>
                  <a:pt x="0" y="2211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3788" y="1170785"/>
            <a:ext cx="1096042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PREGUNTAS Y DUDAS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890158" y="2244369"/>
            <a:ext cx="6507685" cy="5288973"/>
          </a:xfrm>
          <a:custGeom>
            <a:avLst/>
            <a:gdLst/>
            <a:ahLst/>
            <a:cxnLst/>
            <a:rect r="r" b="b" t="t" l="l"/>
            <a:pathLst>
              <a:path h="5288973" w="6507685">
                <a:moveTo>
                  <a:pt x="0" y="0"/>
                </a:moveTo>
                <a:lnTo>
                  <a:pt x="6507684" y="0"/>
                </a:lnTo>
                <a:lnTo>
                  <a:pt x="6507684" y="5288973"/>
                </a:lnTo>
                <a:lnTo>
                  <a:pt x="0" y="5288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71808" y="2034385"/>
            <a:ext cx="2383960" cy="5372304"/>
          </a:xfrm>
          <a:custGeom>
            <a:avLst/>
            <a:gdLst/>
            <a:ahLst/>
            <a:cxnLst/>
            <a:rect r="r" b="b" t="t" l="l"/>
            <a:pathLst>
              <a:path h="5372304" w="2383960">
                <a:moveTo>
                  <a:pt x="0" y="0"/>
                </a:moveTo>
                <a:lnTo>
                  <a:pt x="2383960" y="0"/>
                </a:lnTo>
                <a:lnTo>
                  <a:pt x="2383960" y="5372304"/>
                </a:lnTo>
                <a:lnTo>
                  <a:pt x="0" y="5372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436067" y="2244369"/>
            <a:ext cx="2383960" cy="5372304"/>
          </a:xfrm>
          <a:custGeom>
            <a:avLst/>
            <a:gdLst/>
            <a:ahLst/>
            <a:cxnLst/>
            <a:rect r="r" b="b" t="t" l="l"/>
            <a:pathLst>
              <a:path h="5372304" w="2383960">
                <a:moveTo>
                  <a:pt x="2383960" y="0"/>
                </a:moveTo>
                <a:lnTo>
                  <a:pt x="0" y="0"/>
                </a:lnTo>
                <a:lnTo>
                  <a:pt x="0" y="5372304"/>
                </a:lnTo>
                <a:lnTo>
                  <a:pt x="2383960" y="5372304"/>
                </a:lnTo>
                <a:lnTo>
                  <a:pt x="23839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DAHDmexAwtI</dc:identifier>
  <dcterms:modified xsi:type="dcterms:W3CDTF">2011-08-01T06:04:30Z</dcterms:modified>
  <cp:revision>1</cp:revision>
  <dc:title>Presentación Metodología De La Investigación Ilustrada Azul y Naranja</dc:title>
</cp:coreProperties>
</file>